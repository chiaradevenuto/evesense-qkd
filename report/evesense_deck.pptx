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1737360"/>
            <a:ext cx="7863840" cy="1097280"/>
          </a:xfrm>
          <a:prstGeom prst="rect">
            <a:avLst/>
          </a:prstGeom>
          <a:noFill/>
        </p:spPr>
        <p:txBody>
          <a:bodyPr wrap="square">
            <a:spAutoFit/>
          </a:bodyPr>
          <a:lstStyle/>
          <a:p>
            <a:pPr>
              <a:spcAft>
                <a:spcPts val="1000"/>
              </a:spcAft>
            </a:pPr>
            <a:r>
              <a:rPr sz="5200" b="1">
                <a:solidFill>
                  <a:srgbClr val="1F4E79"/>
                </a:solidFill>
              </a:rPr>
              <a:t>EveSense</a:t>
            </a:r>
          </a:p>
        </p:txBody>
      </p:sp>
      <p:sp>
        <p:nvSpPr>
          <p:cNvPr id="3" name="TextBox 2"/>
          <p:cNvSpPr txBox="1"/>
          <p:nvPr/>
        </p:nvSpPr>
        <p:spPr>
          <a:xfrm>
            <a:off x="640080" y="2743200"/>
            <a:ext cx="7863840" cy="1463040"/>
          </a:xfrm>
          <a:prstGeom prst="rect">
            <a:avLst/>
          </a:prstGeom>
          <a:noFill/>
        </p:spPr>
        <p:txBody>
          <a:bodyPr wrap="square">
            <a:spAutoFit/>
          </a:bodyPr>
          <a:lstStyle/>
          <a:p>
            <a:pPr>
              <a:spcAft>
                <a:spcPts val="1000"/>
              </a:spcAft>
            </a:pPr>
            <a:r>
              <a:rPr sz="2200" b="0">
                <a:solidFill>
                  <a:srgbClr val="1A1A1A"/>
                </a:solidFill>
              </a:rPr>
              <a:t>Catching an eavesdropper on a BB84 link that is already noisy</a:t>
            </a:r>
          </a:p>
        </p:txBody>
      </p:sp>
      <p:sp>
        <p:nvSpPr>
          <p:cNvPr id="4" name="TextBox 3"/>
          <p:cNvSpPr txBox="1"/>
          <p:nvPr/>
        </p:nvSpPr>
        <p:spPr>
          <a:xfrm>
            <a:off x="640080" y="3931920"/>
            <a:ext cx="7863840" cy="1280160"/>
          </a:xfrm>
          <a:prstGeom prst="rect">
            <a:avLst/>
          </a:prstGeom>
          <a:noFill/>
        </p:spPr>
        <p:txBody>
          <a:bodyPr wrap="square">
            <a:spAutoFit/>
          </a:bodyPr>
          <a:lstStyle/>
          <a:p>
            <a:pPr>
              <a:spcAft>
                <a:spcPts val="1000"/>
              </a:spcAft>
            </a:pPr>
            <a:r>
              <a:rPr sz="1400" b="0">
                <a:solidFill>
                  <a:srgbClr val="666666"/>
                </a:solidFill>
              </a:rPr>
              <a:t>Chiara De Venuto - team ChiaraDev Qiskit Fall Fest 2026 @ MPSTME, IBM Quantum Quantum Secure Communication track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863840" cy="731520"/>
          </a:xfrm>
          <a:prstGeom prst="rect">
            <a:avLst/>
          </a:prstGeom>
          <a:noFill/>
        </p:spPr>
        <p:txBody>
          <a:bodyPr wrap="square">
            <a:spAutoFit/>
          </a:bodyPr>
          <a:lstStyle/>
          <a:p>
            <a:pPr>
              <a:spcAft>
                <a:spcPts val="1000"/>
              </a:spcAft>
            </a:pPr>
            <a:r>
              <a:rPr sz="3000" b="1">
                <a:solidFill>
                  <a:srgbClr val="1F4E79"/>
                </a:solidFill>
              </a:rPr>
              <a:t>The question</a:t>
            </a:r>
          </a:p>
        </p:txBody>
      </p:sp>
      <p:sp>
        <p:nvSpPr>
          <p:cNvPr id="3" name="TextBox 2"/>
          <p:cNvSpPr txBox="1"/>
          <p:nvPr/>
        </p:nvSpPr>
        <p:spPr>
          <a:xfrm>
            <a:off x="640080" y="1371600"/>
            <a:ext cx="7863840" cy="4754880"/>
          </a:xfrm>
          <a:prstGeom prst="rect">
            <a:avLst/>
          </a:prstGeom>
          <a:noFill/>
        </p:spPr>
        <p:txBody>
          <a:bodyPr wrap="square">
            <a:spAutoFit/>
          </a:bodyPr>
          <a:lstStyle/>
          <a:p>
            <a:pPr>
              <a:spcAft>
                <a:spcPts val="1000"/>
              </a:spcAft>
            </a:pPr>
            <a:r>
              <a:rPr sz="1600" b="0">
                <a:solidFill>
                  <a:srgbClr val="1A1A1A"/>
                </a:solidFill>
              </a:rPr>
              <a:t>BB84 security rests on one fact: measuring a qubit in the wrong basis disturbs it. An intercept-resend attacker inserts errors, the two ends read those errors as QBER, and above roughly 11% QBER the link stops producing usable key.</a:t>
            </a:r>
          </a:p>
          <a:p>
            <a:pPr>
              <a:spcAft>
                <a:spcPts val="1000"/>
              </a:spcAft>
            </a:pPr>
            <a:r>
              <a:rPr sz="1600" b="0">
                <a:solidFill>
                  <a:srgbClr val="1A1A1A"/>
                </a:solidFill>
              </a:rPr>
              <a:t>Deployed fiber is never clean. Raman scattering, dark counts and polarization drift put real links at a few percent QBER with nobody listening. So the receiver is not comparing a measurement against zero. It is comparing against a baseline that moves.</a:t>
            </a:r>
          </a:p>
          <a:p>
            <a:pPr>
              <a:spcAft>
                <a:spcPts val="1000"/>
              </a:spcAft>
            </a:pPr>
            <a:r>
              <a:rPr sz="1600" b="0">
                <a:solidFill>
                  <a:srgbClr val="1A1A1A"/>
                </a:solidFill>
              </a:rPr>
              <a:t>Eve knows the baseline. A patient attacker keeps her interception rate under the noise floor. The receiver has one number and one threshold, and has to decide whether a rise in QBER is Eve or the weather.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863840" cy="731520"/>
          </a:xfrm>
          <a:prstGeom prst="rect">
            <a:avLst/>
          </a:prstGeom>
          <a:noFill/>
        </p:spPr>
        <p:txBody>
          <a:bodyPr wrap="square">
            <a:spAutoFit/>
          </a:bodyPr>
          <a:lstStyle/>
          <a:p>
            <a:pPr>
              <a:spcAft>
                <a:spcPts val="1000"/>
              </a:spcAft>
            </a:pPr>
            <a:r>
              <a:rPr sz="3000" b="1">
                <a:solidFill>
                  <a:srgbClr val="1F4E79"/>
                </a:solidFill>
              </a:rPr>
              <a:t>What we built</a:t>
            </a:r>
          </a:p>
        </p:txBody>
      </p:sp>
      <p:sp>
        <p:nvSpPr>
          <p:cNvPr id="3" name="TextBox 2"/>
          <p:cNvSpPr txBox="1"/>
          <p:nvPr/>
        </p:nvSpPr>
        <p:spPr>
          <a:xfrm>
            <a:off x="640080" y="1371600"/>
            <a:ext cx="7863840" cy="4937760"/>
          </a:xfrm>
          <a:prstGeom prst="rect">
            <a:avLst/>
          </a:prstGeom>
          <a:noFill/>
        </p:spPr>
        <p:txBody>
          <a:bodyPr wrap="square">
            <a:spAutoFit/>
          </a:bodyPr>
          <a:lstStyle/>
          <a:p>
            <a:pPr>
              <a:spcAft>
                <a:spcPts val="1000"/>
              </a:spcAft>
            </a:pPr>
            <a:r>
              <a:rPr sz="1600" b="0">
                <a:solidFill>
                  <a:srgbClr val="1A1A1A"/>
                </a:solidFill>
              </a:rPr>
              <a:t>A BB84 link in Qiskit with a tunable attacker and a tunable channel, then a detection study across nine conditions.</a:t>
            </a:r>
          </a:p>
          <a:p>
            <a:pPr>
              <a:spcAft>
                <a:spcPts val="1000"/>
              </a:spcAft>
            </a:pPr>
            <a:r>
              <a:rPr sz="1600" b="0">
                <a:solidFill>
                  <a:srgbClr val="1A1A1A"/>
                </a:solidFill>
              </a:rPr>
              <a:t>One round is one qubit: Alice prepares |0&gt;, |1&gt;, |+&gt; or |-&gt;, Eve intercept-measures and resends when she is active, the channel adds depolarizing and readout noise, Bob measures in the basis he picked.</a:t>
            </a:r>
          </a:p>
          <a:p>
            <a:pPr>
              <a:spcAft>
                <a:spcPts val="1000"/>
              </a:spcAft>
            </a:pPr>
            <a:r>
              <a:rPr sz="1600" b="0">
                <a:solidFill>
                  <a:srgbClr val="1A1A1A"/>
                </a:solidFill>
              </a:rPr>
              <a:t>Rounds are packed into batches of 64 qubits in a single stabilizer circuit, so 30000 rounds cost milliseconds. Eve's outcome is drawn from the Born rule, which is what a mid-circuit measure-and-resend gives.</a:t>
            </a:r>
          </a:p>
          <a:p>
            <a:pPr>
              <a:spcAft>
                <a:spcPts val="1000"/>
              </a:spcAft>
            </a:pPr>
            <a:r>
              <a:rPr sz="1600" b="0">
                <a:solidFill>
                  <a:srgbClr val="1A1A1A"/>
                </a:solidFill>
              </a:rPr>
              <a:t>Four experiments: interception sweep, channel noise sweep, detection study with 12 repeats per condition, and the secure key rate curve.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7863840" cy="640080"/>
          </a:xfrm>
          <a:prstGeom prst="rect">
            <a:avLst/>
          </a:prstGeom>
          <a:noFill/>
        </p:spPr>
        <p:txBody>
          <a:bodyPr wrap="square">
            <a:spAutoFit/>
          </a:bodyPr>
          <a:lstStyle/>
          <a:p>
            <a:pPr>
              <a:spcAft>
                <a:spcPts val="1000"/>
              </a:spcAft>
            </a:pPr>
            <a:r>
              <a:rPr sz="2600" b="1">
                <a:solidFill>
                  <a:srgbClr val="1F4E79"/>
                </a:solidFill>
              </a:rPr>
              <a:t>Clean channel, tunable attacker</a:t>
            </a:r>
          </a:p>
        </p:txBody>
      </p:sp>
      <p:pic>
        <p:nvPicPr>
          <p:cNvPr id="3" name="Picture 2" descr="fig1_interception.png"/>
          <p:cNvPicPr>
            <a:picLocks noChangeAspect="1"/>
          </p:cNvPicPr>
          <p:nvPr/>
        </p:nvPicPr>
        <p:blipFill>
          <a:blip r:embed="rId2"/>
          <a:stretch>
            <a:fillRect/>
          </a:stretch>
        </p:blipFill>
        <p:spPr>
          <a:xfrm>
            <a:off x="640080" y="1143000"/>
            <a:ext cx="5910576" cy="4023360"/>
          </a:xfrm>
          <a:prstGeom prst="rect">
            <a:avLst/>
          </a:prstGeom>
        </p:spPr>
      </p:pic>
      <p:sp>
        <p:nvSpPr>
          <p:cNvPr id="4" name="TextBox 3"/>
          <p:cNvSpPr txBox="1"/>
          <p:nvPr/>
        </p:nvSpPr>
        <p:spPr>
          <a:xfrm>
            <a:off x="640080" y="5349240"/>
            <a:ext cx="7863840" cy="1188720"/>
          </a:xfrm>
          <a:prstGeom prst="rect">
            <a:avLst/>
          </a:prstGeom>
          <a:noFill/>
        </p:spPr>
        <p:txBody>
          <a:bodyPr wrap="square">
            <a:spAutoFit/>
          </a:bodyPr>
          <a:lstStyle/>
          <a:p>
            <a:pPr>
              <a:spcAft>
                <a:spcPts val="1000"/>
              </a:spcAft>
            </a:pPr>
            <a:r>
              <a:rPr sz="1300" b="0">
                <a:solidFill>
                  <a:srgbClr val="666666"/>
                </a:solidFill>
              </a:rPr>
              <a:t>Interception sweep. The simulated points fall on the analytical 25% * p line, which is the sanity check every QKD demo should pass before claiming anything.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7863840" cy="640080"/>
          </a:xfrm>
          <a:prstGeom prst="rect">
            <a:avLst/>
          </a:prstGeom>
          <a:noFill/>
        </p:spPr>
        <p:txBody>
          <a:bodyPr wrap="square">
            <a:spAutoFit/>
          </a:bodyPr>
          <a:lstStyle/>
          <a:p>
            <a:pPr>
              <a:spcAft>
                <a:spcPts val="1000"/>
              </a:spcAft>
            </a:pPr>
            <a:r>
              <a:rPr sz="2600" b="1">
                <a:solidFill>
                  <a:srgbClr val="1F4E79"/>
                </a:solidFill>
              </a:rPr>
              <a:t>The baseline she hides in</a:t>
            </a:r>
          </a:p>
        </p:txBody>
      </p:sp>
      <p:pic>
        <p:nvPicPr>
          <p:cNvPr id="3" name="Picture 2" descr="fig2_noise.png"/>
          <p:cNvPicPr>
            <a:picLocks noChangeAspect="1"/>
          </p:cNvPicPr>
          <p:nvPr/>
        </p:nvPicPr>
        <p:blipFill>
          <a:blip r:embed="rId2"/>
          <a:stretch>
            <a:fillRect/>
          </a:stretch>
        </p:blipFill>
        <p:spPr>
          <a:xfrm>
            <a:off x="640080" y="1143000"/>
            <a:ext cx="5823741" cy="4023360"/>
          </a:xfrm>
          <a:prstGeom prst="rect">
            <a:avLst/>
          </a:prstGeom>
        </p:spPr>
      </p:pic>
      <p:sp>
        <p:nvSpPr>
          <p:cNvPr id="4" name="TextBox 3"/>
          <p:cNvSpPr txBox="1"/>
          <p:nvPr/>
        </p:nvSpPr>
        <p:spPr>
          <a:xfrm>
            <a:off x="640080" y="5349240"/>
            <a:ext cx="7863840" cy="1188720"/>
          </a:xfrm>
          <a:prstGeom prst="rect">
            <a:avLst/>
          </a:prstGeom>
          <a:noFill/>
        </p:spPr>
        <p:txBody>
          <a:bodyPr wrap="square">
            <a:spAutoFit/>
          </a:bodyPr>
          <a:lstStyle/>
          <a:p>
            <a:pPr>
              <a:spcAft>
                <a:spcPts val="1000"/>
              </a:spcAft>
            </a:pPr>
            <a:r>
              <a:rPr sz="1300" b="0">
                <a:solidFill>
                  <a:srgbClr val="666666"/>
                </a:solidFill>
              </a:rPr>
              <a:t>Channel noise with no attacker. By 12% depolarising probability the link crosses the 11% secrecy limit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7863840" cy="640080"/>
          </a:xfrm>
          <a:prstGeom prst="rect">
            <a:avLst/>
          </a:prstGeom>
          <a:noFill/>
        </p:spPr>
        <p:txBody>
          <a:bodyPr wrap="square">
            <a:spAutoFit/>
          </a:bodyPr>
          <a:lstStyle/>
          <a:p>
            <a:pPr>
              <a:spcAft>
                <a:spcPts val="1000"/>
              </a:spcAft>
            </a:pPr>
            <a:r>
              <a:rPr sz="2600" b="1">
                <a:solidFill>
                  <a:srgbClr val="1F4E79"/>
                </a:solidFill>
              </a:rPr>
              <a:t>Nine conditions, twelve runs each</a:t>
            </a:r>
          </a:p>
        </p:txBody>
      </p:sp>
      <p:pic>
        <p:nvPicPr>
          <p:cNvPr id="3" name="Picture 2" descr="fig3_detection.png"/>
          <p:cNvPicPr>
            <a:picLocks noChangeAspect="1"/>
          </p:cNvPicPr>
          <p:nvPr/>
        </p:nvPicPr>
        <p:blipFill>
          <a:blip r:embed="rId2"/>
          <a:stretch>
            <a:fillRect/>
          </a:stretch>
        </p:blipFill>
        <p:spPr>
          <a:xfrm>
            <a:off x="640080" y="1143000"/>
            <a:ext cx="5879189" cy="4023360"/>
          </a:xfrm>
          <a:prstGeom prst="rect">
            <a:avLst/>
          </a:prstGeom>
        </p:spPr>
      </p:pic>
      <p:sp>
        <p:nvSpPr>
          <p:cNvPr id="4" name="TextBox 3"/>
          <p:cNvSpPr txBox="1"/>
          <p:nvPr/>
        </p:nvSpPr>
        <p:spPr>
          <a:xfrm>
            <a:off x="640080" y="5349240"/>
            <a:ext cx="7863840" cy="1188720"/>
          </a:xfrm>
          <a:prstGeom prst="rect">
            <a:avLst/>
          </a:prstGeom>
          <a:noFill/>
        </p:spPr>
        <p:txBody>
          <a:bodyPr wrap="square">
            <a:spAutoFit/>
          </a:bodyPr>
          <a:lstStyle/>
          <a:p>
            <a:pPr>
              <a:spcAft>
                <a:spcPts val="1000"/>
              </a:spcAft>
            </a:pPr>
            <a:r>
              <a:rPr sz="1300" b="0">
                <a:solidFill>
                  <a:srgbClr val="666666"/>
                </a:solidFill>
              </a:rPr>
              <a:t>QBER distributions per condition. The overlap between a tapped noisy link and an untapped noisy link is the whole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7863840" cy="640080"/>
          </a:xfrm>
          <a:prstGeom prst="rect">
            <a:avLst/>
          </a:prstGeom>
          <a:noFill/>
        </p:spPr>
        <p:txBody>
          <a:bodyPr wrap="square">
            <a:spAutoFit/>
          </a:bodyPr>
          <a:lstStyle/>
          <a:p>
            <a:pPr>
              <a:spcAft>
                <a:spcPts val="1000"/>
              </a:spcAft>
            </a:pPr>
            <a:r>
              <a:rPr sz="2600" b="1">
                <a:solidFill>
                  <a:srgbClr val="1F4E79"/>
                </a:solidFill>
              </a:rPr>
              <a:t>Detection cost</a:t>
            </a:r>
          </a:p>
        </p:txBody>
      </p:sp>
      <p:pic>
        <p:nvPicPr>
          <p:cNvPr id="3" name="Picture 2" descr="fig4_roc.png"/>
          <p:cNvPicPr>
            <a:picLocks noChangeAspect="1"/>
          </p:cNvPicPr>
          <p:nvPr/>
        </p:nvPicPr>
        <p:blipFill>
          <a:blip r:embed="rId2"/>
          <a:stretch>
            <a:fillRect/>
          </a:stretch>
        </p:blipFill>
        <p:spPr>
          <a:xfrm>
            <a:off x="640080" y="1143000"/>
            <a:ext cx="4917440" cy="4023360"/>
          </a:xfrm>
          <a:prstGeom prst="rect">
            <a:avLst/>
          </a:prstGeom>
        </p:spPr>
      </p:pic>
      <p:sp>
        <p:nvSpPr>
          <p:cNvPr id="4" name="TextBox 3"/>
          <p:cNvSpPr txBox="1"/>
          <p:nvPr/>
        </p:nvSpPr>
        <p:spPr>
          <a:xfrm>
            <a:off x="640080" y="5349240"/>
            <a:ext cx="7863840" cy="1188720"/>
          </a:xfrm>
          <a:prstGeom prst="rect">
            <a:avLst/>
          </a:prstGeom>
          <a:noFill/>
        </p:spPr>
        <p:txBody>
          <a:bodyPr wrap="square">
            <a:spAutoFit/>
          </a:bodyPr>
          <a:lstStyle/>
          <a:p>
            <a:pPr>
              <a:spcAft>
                <a:spcPts val="1000"/>
              </a:spcAft>
            </a:pPr>
            <a:r>
              <a:rPr sz="1300" b="0">
                <a:solidFill>
                  <a:srgbClr val="666666"/>
                </a:solidFill>
              </a:rPr>
              <a:t>Hit rate against false alarm rate. The noisy-channel curves fall toward the diagonal exactly where the attacker is quietest.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863840" cy="731520"/>
          </a:xfrm>
          <a:prstGeom prst="rect">
            <a:avLst/>
          </a:prstGeom>
          <a:noFill/>
        </p:spPr>
        <p:txBody>
          <a:bodyPr wrap="square">
            <a:spAutoFit/>
          </a:bodyPr>
          <a:lstStyle/>
          <a:p>
            <a:pPr>
              <a:spcAft>
                <a:spcPts val="1000"/>
              </a:spcAft>
            </a:pPr>
            <a:r>
              <a:rPr sz="3000" b="1">
                <a:solidFill>
                  <a:srgbClr val="1F4E79"/>
                </a:solidFill>
              </a:rPr>
              <a:t>What the numbers say</a:t>
            </a:r>
          </a:p>
        </p:txBody>
      </p:sp>
      <p:sp>
        <p:nvSpPr>
          <p:cNvPr id="3" name="TextBox 2"/>
          <p:cNvSpPr txBox="1"/>
          <p:nvPr/>
        </p:nvSpPr>
        <p:spPr>
          <a:xfrm>
            <a:off x="640080" y="1371600"/>
            <a:ext cx="7863840" cy="4754880"/>
          </a:xfrm>
          <a:prstGeom prst="rect">
            <a:avLst/>
          </a:prstGeom>
          <a:noFill/>
        </p:spPr>
        <p:txBody>
          <a:bodyPr wrap="square">
            <a:spAutoFit/>
          </a:bodyPr>
          <a:lstStyle/>
          <a:p>
            <a:pPr>
              <a:spcAft>
                <a:spcPts val="1000"/>
              </a:spcAft>
            </a:pPr>
            <a:r>
              <a:rPr sz="1500" b="0">
                <a:solidFill>
                  <a:srgbClr val="1A1A1A"/>
                </a:solidFill>
              </a:rPr>
              <a:t>On a clean link the protocol behaves exactly as theory predicts: QBER tracks 25% of the interception probability, and the measured curve sits on the analytical one.</a:t>
            </a:r>
          </a:p>
          <a:p>
            <a:pPr>
              <a:spcAft>
                <a:spcPts val="1000"/>
              </a:spcAft>
            </a:pPr>
            <a:r>
              <a:rPr sz="1500" b="0">
                <a:solidFill>
                  <a:srgbClr val="1A1A1A"/>
                </a:solidFill>
              </a:rPr>
              <a:t>A 7% depolarizing channel on its own produces about 7% QBER. That is the same order of magnitude as a 10% interception rate on clean fiber. The receiver cannot tell those two apart from a single measurement.</a:t>
            </a:r>
          </a:p>
          <a:p>
            <a:pPr>
              <a:spcAft>
                <a:spcPts val="1000"/>
              </a:spcAft>
            </a:pPr>
            <a:r>
              <a:rPr sz="1500" b="0">
                <a:solidFill>
                  <a:srgbClr val="1A1A1A"/>
                </a:solidFill>
              </a:rPr>
              <a:t>The ROC curves show the tradeoff. On clean fiber almost any threshold separates tapped from untapped. On dirty fiber the curve collapses toward the diagonal at low interception rates, which is where a patient attacker works.</a:t>
            </a:r>
          </a:p>
          <a:p>
            <a:pPr>
              <a:spcAft>
                <a:spcPts val="1000"/>
              </a:spcAft>
            </a:pPr>
            <a:r>
              <a:rPr sz="1500" b="0">
                <a:solidFill>
                  <a:srgbClr val="1A1A1A"/>
                </a:solidFill>
              </a:rPr>
              <a:t>Past about 11% QBER error correction and privacy amplification take everything. The link stays up and stops being worth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863840" cy="731520"/>
          </a:xfrm>
          <a:prstGeom prst="rect">
            <a:avLst/>
          </a:prstGeom>
          <a:noFill/>
        </p:spPr>
        <p:txBody>
          <a:bodyPr wrap="square">
            <a:spAutoFit/>
          </a:bodyPr>
          <a:lstStyle/>
          <a:p>
            <a:pPr>
              <a:spcAft>
                <a:spcPts val="1000"/>
              </a:spcAft>
            </a:pPr>
            <a:r>
              <a:rPr sz="3000" b="1">
                <a:solidFill>
                  <a:srgbClr val="1F4E79"/>
                </a:solidFill>
              </a:rPr>
              <a:t>Limits and next steps</a:t>
            </a:r>
          </a:p>
        </p:txBody>
      </p:sp>
      <p:sp>
        <p:nvSpPr>
          <p:cNvPr id="3" name="TextBox 2"/>
          <p:cNvSpPr txBox="1"/>
          <p:nvPr/>
        </p:nvSpPr>
        <p:spPr>
          <a:xfrm>
            <a:off x="640080" y="1371600"/>
            <a:ext cx="7863840" cy="4754880"/>
          </a:xfrm>
          <a:prstGeom prst="rect">
            <a:avLst/>
          </a:prstGeom>
          <a:noFill/>
        </p:spPr>
        <p:txBody>
          <a:bodyPr wrap="square">
            <a:spAutoFit/>
          </a:bodyPr>
          <a:lstStyle/>
          <a:p>
            <a:pPr>
              <a:spcAft>
                <a:spcPts val="1000"/>
              </a:spcAft>
            </a:pPr>
            <a:r>
              <a:rPr sz="1500" b="0">
                <a:solidFill>
                  <a:srgbClr val="1A1A1A"/>
                </a:solidFill>
              </a:rPr>
              <a:t>Eve here is a textbook intercept-resend attacker. Photon-number- splitting and coherent attacks are not in the model, and nothing in this work is a security proof.</a:t>
            </a:r>
          </a:p>
          <a:p>
            <a:pPr>
              <a:spcAft>
                <a:spcPts val="1000"/>
              </a:spcAft>
            </a:pPr>
            <a:r>
              <a:rPr sz="1500" b="0">
                <a:solidFill>
                  <a:srgbClr val="1A1A1A"/>
                </a:solidFill>
              </a:rPr>
              <a:t>The channel is depolarizing plus symmetric readout noise. Real fiber drifts in polarization and loses differently per wavelength.</a:t>
            </a:r>
          </a:p>
          <a:p>
            <a:pPr>
              <a:spcAft>
                <a:spcPts val="1000"/>
              </a:spcAft>
            </a:pPr>
            <a:r>
              <a:rPr sz="1500" b="0">
                <a:solidFill>
                  <a:srgbClr val="1A1A1A"/>
                </a:solidFill>
              </a:rPr>
              <a:t>The detector is a single threshold. A real receiver discloses part of the key, estimates QBER on that subset and adapts the threshold against a measured baseline instead of a fixed number.</a:t>
            </a:r>
          </a:p>
          <a:p>
            <a:pPr>
              <a:spcAft>
                <a:spcPts val="1000"/>
              </a:spcAft>
            </a:pPr>
            <a:r>
              <a:rPr sz="1500" b="0">
                <a:solidFill>
                  <a:srgbClr val="1A1A1A"/>
                </a:solidFill>
              </a:rPr>
              <a:t>The next version of this work would estimate the baseline online and run the detection on the residual, which is the version that would survive contact with a real link.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863840" cy="731520"/>
          </a:xfrm>
          <a:prstGeom prst="rect">
            <a:avLst/>
          </a:prstGeom>
          <a:noFill/>
        </p:spPr>
        <p:txBody>
          <a:bodyPr wrap="square">
            <a:spAutoFit/>
          </a:bodyPr>
          <a:lstStyle/>
          <a:p>
            <a:pPr>
              <a:spcAft>
                <a:spcPts val="1000"/>
              </a:spcAft>
            </a:pPr>
            <a:r>
              <a:rPr sz="3000" b="1">
                <a:solidFill>
                  <a:srgbClr val="1F4E79"/>
                </a:solidFill>
              </a:rPr>
              <a:t>Disclosure</a:t>
            </a:r>
          </a:p>
        </p:txBody>
      </p:sp>
      <p:sp>
        <p:nvSpPr>
          <p:cNvPr id="3" name="TextBox 2"/>
          <p:cNvSpPr txBox="1"/>
          <p:nvPr/>
        </p:nvSpPr>
        <p:spPr>
          <a:xfrm>
            <a:off x="640080" y="1645920"/>
            <a:ext cx="7863840" cy="3657600"/>
          </a:xfrm>
          <a:prstGeom prst="rect">
            <a:avLst/>
          </a:prstGeom>
          <a:noFill/>
        </p:spPr>
        <p:txBody>
          <a:bodyPr wrap="square">
            <a:spAutoFit/>
          </a:bodyPr>
          <a:lstStyle/>
          <a:p>
            <a:pPr>
              <a:spcAft>
                <a:spcPts val="1000"/>
              </a:spcAft>
            </a:pPr>
            <a:r>
              <a:rPr sz="1500" b="0">
                <a:solidFill>
                  <a:srgbClr val="666666"/>
                </a:solidFill>
              </a:rPr>
              <a:t>This project was developed with the assistance of generative AI tools for research, structuring and content generation. The final content has been reviewed and validated by the author.</a:t>
            </a:r>
          </a:p>
          <a:p>
            <a:pPr>
              <a:spcAft>
                <a:spcPts val="1000"/>
              </a:spcAft>
            </a:pPr>
            <a:r>
              <a:rPr sz="1500" b="0">
                <a:solidFill>
                  <a:srgbClr val="666666"/>
                </a:solidFill>
              </a:rPr>
              <a:t>Full compliance with: Reg. (EU) 2024/1689 (AI Act) Art. 50 Italian Law 132/2025 Art. 13 EU Code of Practice on AI Transparency (2026) U.S. AI Labeling Act (S. 4915) - U.S. H.R.8479 U.S. Executive Order on AI (Dec 2025) California TFAIA &amp; AB 2013 (eff. Jan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